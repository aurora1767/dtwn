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72" y="7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77310F-CBB5-05D4-6809-523C5C62DC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B2ACEB4-6A6D-F65B-3F42-65A331E8C0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BB04558-FA72-C628-D3BF-784FED586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A0877-B40A-45EC-B48D-A12A177B0627}" type="datetimeFigureOut">
              <a:rPr lang="zh-CN" altLang="en-US" smtClean="0"/>
              <a:t>2025/6/23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73EF68A-8F69-D263-C849-AF85A7B9B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743D0ED-2718-287C-CAA5-1028F6113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7F64E-123A-4DE3-AD8A-2E1140F32C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25412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4DFF1B-D858-90F2-AF78-9E9998A4B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83D7F02-B6B8-7DDD-70EB-AF7E9FA230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C556FD9-2B75-105B-DDCF-F96A233D0E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A0877-B40A-45EC-B48D-A12A177B0627}" type="datetimeFigureOut">
              <a:rPr lang="zh-CN" altLang="en-US" smtClean="0"/>
              <a:t>2025/6/23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D48B7EB-1842-EFD8-1D75-FC93E88F7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0FC370E-A57E-9FF3-D760-9EF2A4914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7F64E-123A-4DE3-AD8A-2E1140F32C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18458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ADB7CE-5950-A227-CF6E-CAE9621D04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4EFC17C-42FD-CB51-C888-B31D773D12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3E56D9E-8B00-1F09-1920-84B2680D5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A0877-B40A-45EC-B48D-A12A177B0627}" type="datetimeFigureOut">
              <a:rPr lang="zh-CN" altLang="en-US" smtClean="0"/>
              <a:t>2025/6/23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28A8AF9-6250-679C-5EF8-732929AAF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B0867BF-6E6D-D39A-E4AE-399E4E315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7F64E-123A-4DE3-AD8A-2E1140F32C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55156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40E1C0-2947-BBB3-4E1C-578FE4A3EC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9B85B6A-BA5A-C568-7270-15F2818E9C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79F76D3-383D-F6D6-9775-03AE07C961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D43F75F-7211-8430-901C-5AE88E3B2E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A0877-B40A-45EC-B48D-A12A177B0627}" type="datetimeFigureOut">
              <a:rPr lang="zh-CN" altLang="en-US" smtClean="0"/>
              <a:t>2025/6/23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9CC5A42-3EAA-DD1F-7EE1-6C3C098A7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DA8349B-F710-076E-5EE2-E60AB4FE4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7F64E-123A-4DE3-AD8A-2E1140F32C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27397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E3D77A-883C-594B-4042-0419B570B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896BC45-6434-7F80-DBEB-2694938501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2970C24-9CD4-0133-3A9E-CEC36F1A14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3FB099A-279F-4883-8277-4FB1BE4EC8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29B9B22-A545-C665-800D-69A0B11E9D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A85BA68-45E4-BDD0-B5B6-36162F2BD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A0877-B40A-45EC-B48D-A12A177B0627}" type="datetimeFigureOut">
              <a:rPr lang="zh-CN" altLang="en-US" smtClean="0"/>
              <a:t>2025/6/23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409F2EA-D155-89B7-F65B-B5A56386F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19A2D66-1E9B-4F7F-FEB9-58FE44E69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7F64E-123A-4DE3-AD8A-2E1140F32C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12376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0941CD-BFE4-3B07-14B6-E635AC12A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69899FB-A738-213C-20FA-614204D57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A0877-B40A-45EC-B48D-A12A177B0627}" type="datetimeFigureOut">
              <a:rPr lang="zh-CN" altLang="en-US" smtClean="0"/>
              <a:t>2025/6/23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14F6277-3375-5EE2-58F9-FF71ADF74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B5A907B-DB23-6576-B48A-88C341E1F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7F64E-123A-4DE3-AD8A-2E1140F32C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78040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5DDBB0B-EE82-0BF4-3B2A-BE74466F2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A0877-B40A-45EC-B48D-A12A177B0627}" type="datetimeFigureOut">
              <a:rPr lang="zh-CN" altLang="en-US" smtClean="0"/>
              <a:t>2025/6/23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A98BC38-4BB1-ECF1-87D6-E02ED83E2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581EFD7-8EC0-6BE7-9FC5-ADADE6B0A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7F64E-123A-4DE3-AD8A-2E1140F32C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34259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539475-7F5A-3DFB-AD84-849D6ECA9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745FEC6-9849-A530-4B2F-04B22805DF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072BA47-DE6C-6CCA-FA29-681C6DBB3B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34C3E27-152C-E416-7082-8065E5063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A0877-B40A-45EC-B48D-A12A177B0627}" type="datetimeFigureOut">
              <a:rPr lang="zh-CN" altLang="en-US" smtClean="0"/>
              <a:t>2025/6/23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34466D8-84E8-6819-6BAC-2B9AC48B1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91844A0-CC64-889B-87E1-EA7F82EEA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7F64E-123A-4DE3-AD8A-2E1140F32C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39927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652648-5564-CBB3-38F4-D5D721E04C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A604FBA-3491-9DD5-CE3A-343BF935D4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A7FC124-1CD9-EA36-15B1-B3259432C4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6C59ECD-6261-902D-07F7-1B4CC9CCBF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A0877-B40A-45EC-B48D-A12A177B0627}" type="datetimeFigureOut">
              <a:rPr lang="zh-CN" altLang="en-US" smtClean="0"/>
              <a:t>2025/6/23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597091B-4A17-7199-D994-24F6F4627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7662DAC-DE31-0A8F-8BCE-B53EDD728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7F64E-123A-4DE3-AD8A-2E1140F32C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26815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18444D-1902-8AEB-9F52-D12EC085F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8646FFB-86A4-268B-F5A3-6532EA7817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D354D9B-D1CF-0917-793D-957FC2268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A0877-B40A-45EC-B48D-A12A177B0627}" type="datetimeFigureOut">
              <a:rPr lang="zh-CN" altLang="en-US" smtClean="0"/>
              <a:t>2025/6/23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809553B-1F54-D445-82DF-266B0D569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997720B-3273-AA6D-C22D-3E0C4430C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7F64E-123A-4DE3-AD8A-2E1140F32C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5607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BA66C1B-69A1-2C26-904B-B9332227EC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9CBD666-211A-C87A-FEE9-2D44B5B801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A294713-7113-2BB3-2E39-C3E0F8380F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A0877-B40A-45EC-B48D-A12A177B0627}" type="datetimeFigureOut">
              <a:rPr lang="zh-CN" altLang="en-US" smtClean="0"/>
              <a:t>2025/6/23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3A0C574-F573-54E8-DB54-7FBFEC006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404186D-6273-EC4D-878F-5E0929C4D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7F64E-123A-4DE3-AD8A-2E1140F32C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14113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CB4688D-4955-ECFB-0C2E-05729F190A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A16D438-AD1B-DFA1-A914-8065EB33BD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2EAD7CD-1103-1695-E4AB-311C4B0B76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5A0877-B40A-45EC-B48D-A12A177B0627}" type="datetimeFigureOut">
              <a:rPr lang="zh-CN" altLang="en-US" smtClean="0"/>
              <a:t>2025/6/23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3EA0506-D580-4C18-4512-15A3F2CBC2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3200EBB-E46E-1218-170A-139ACCE7A8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77F64E-123A-4DE3-AD8A-2E1140F32C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35904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FFF19D38-DED0-3335-6E1E-4892A976C9DD}"/>
              </a:ext>
            </a:extLst>
          </p:cNvPr>
          <p:cNvSpPr txBox="1"/>
          <p:nvPr/>
        </p:nvSpPr>
        <p:spPr>
          <a:xfrm>
            <a:off x="350017" y="149787"/>
            <a:ext cx="739657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孪生水网的范围与基本信息：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西至蠡河、南至大溪港、东至京杭大运河，区域面积约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17.5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平方公里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初估区域内包含五级以上河道约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条，闸站工程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余座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F1DF74B-DF21-2FB4-3208-6DBBA62DB7CD}"/>
              </a:ext>
            </a:extLst>
          </p:cNvPr>
          <p:cNvSpPr txBox="1"/>
          <p:nvPr/>
        </p:nvSpPr>
        <p:spPr>
          <a:xfrm>
            <a:off x="350017" y="1071541"/>
            <a:ext cx="4868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水网边界：蠡河太湖边界、京杭运河南北边界</a:t>
            </a: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F2D21B89-B8D9-BF72-E3FC-B2677E6497D5}"/>
              </a:ext>
            </a:extLst>
          </p:cNvPr>
          <p:cNvGrpSpPr/>
          <p:nvPr/>
        </p:nvGrpSpPr>
        <p:grpSpPr>
          <a:xfrm>
            <a:off x="350017" y="149787"/>
            <a:ext cx="11126636" cy="6447039"/>
            <a:chOff x="350017" y="1260780"/>
            <a:chExt cx="8153903" cy="5053613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4F24C678-D033-B05C-86FA-5E5A034F154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0017" y="1260780"/>
              <a:ext cx="8153903" cy="5053613"/>
            </a:xfrm>
            <a:prstGeom prst="rect">
              <a:avLst/>
            </a:prstGeom>
          </p:spPr>
        </p:pic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1741CAB3-1AD4-45BC-7E52-89DAA3D9ED8F}"/>
                </a:ext>
              </a:extLst>
            </p:cNvPr>
            <p:cNvSpPr txBox="1"/>
            <p:nvPr/>
          </p:nvSpPr>
          <p:spPr>
            <a:xfrm>
              <a:off x="2590125" y="3713434"/>
              <a:ext cx="6607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solidFill>
                    <a:srgbClr val="C00000"/>
                  </a:solidFill>
                </a:rPr>
                <a:t>蠡河</a:t>
              </a: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1FEB9BC9-EA59-92E9-D52B-4C8CAECD809E}"/>
                </a:ext>
              </a:extLst>
            </p:cNvPr>
            <p:cNvSpPr txBox="1"/>
            <p:nvPr/>
          </p:nvSpPr>
          <p:spPr>
            <a:xfrm>
              <a:off x="5059005" y="4855448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solidFill>
                    <a:srgbClr val="C00000"/>
                  </a:solidFill>
                </a:rPr>
                <a:t>大溪港</a:t>
              </a: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37A08D35-97EB-A297-702F-617A288A53B6}"/>
                </a:ext>
              </a:extLst>
            </p:cNvPr>
            <p:cNvSpPr txBox="1"/>
            <p:nvPr/>
          </p:nvSpPr>
          <p:spPr>
            <a:xfrm>
              <a:off x="4595522" y="2643722"/>
              <a:ext cx="13388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solidFill>
                    <a:srgbClr val="C00000"/>
                  </a:solidFill>
                </a:rPr>
                <a:t>京杭大运河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618A8595-F41B-2E5F-5465-F87611319457}"/>
                </a:ext>
              </a:extLst>
            </p:cNvPr>
            <p:cNvSpPr txBox="1"/>
            <p:nvPr/>
          </p:nvSpPr>
          <p:spPr>
            <a:xfrm>
              <a:off x="4090366" y="5945061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solidFill>
                    <a:srgbClr val="C00000"/>
                  </a:solidFill>
                </a:rPr>
                <a:t>太湖</a:t>
              </a:r>
            </a:p>
          </p:txBody>
        </p:sp>
        <p:sp>
          <p:nvSpPr>
            <p:cNvPr id="12" name="任意多边形: 形状 11">
              <a:extLst>
                <a:ext uri="{FF2B5EF4-FFF2-40B4-BE49-F238E27FC236}">
                  <a16:creationId xmlns:a16="http://schemas.microsoft.com/office/drawing/2014/main" id="{30ECBAB7-E3AB-7F00-393B-31D65C363B5E}"/>
                </a:ext>
              </a:extLst>
            </p:cNvPr>
            <p:cNvSpPr/>
            <p:nvPr/>
          </p:nvSpPr>
          <p:spPr>
            <a:xfrm>
              <a:off x="2841845" y="1761205"/>
              <a:ext cx="3193656" cy="2747036"/>
            </a:xfrm>
            <a:custGeom>
              <a:avLst/>
              <a:gdLst>
                <a:gd name="connsiteX0" fmla="*/ 37414 w 2238003"/>
                <a:gd name="connsiteY0" fmla="*/ 126237 h 2356971"/>
                <a:gd name="connsiteX1" fmla="*/ 298671 w 2238003"/>
                <a:gd name="connsiteY1" fmla="*/ 246817 h 2356971"/>
                <a:gd name="connsiteX2" fmla="*/ 2238003 w 2238003"/>
                <a:gd name="connsiteY2" fmla="*/ 2356971 h 2356971"/>
                <a:gd name="connsiteX0" fmla="*/ 6422 w 2538607"/>
                <a:gd name="connsiteY0" fmla="*/ 147663 h 2338203"/>
                <a:gd name="connsiteX1" fmla="*/ 599275 w 2538607"/>
                <a:gd name="connsiteY1" fmla="*/ 228049 h 2338203"/>
                <a:gd name="connsiteX2" fmla="*/ 2538607 w 2538607"/>
                <a:gd name="connsiteY2" fmla="*/ 2338203 h 2338203"/>
                <a:gd name="connsiteX0" fmla="*/ 0 w 2532185"/>
                <a:gd name="connsiteY0" fmla="*/ 107230 h 2297770"/>
                <a:gd name="connsiteX1" fmla="*/ 592853 w 2532185"/>
                <a:gd name="connsiteY1" fmla="*/ 187616 h 2297770"/>
                <a:gd name="connsiteX2" fmla="*/ 2532185 w 2532185"/>
                <a:gd name="connsiteY2" fmla="*/ 2297770 h 2297770"/>
                <a:gd name="connsiteX0" fmla="*/ 0 w 2562330"/>
                <a:gd name="connsiteY0" fmla="*/ 75299 h 2316081"/>
                <a:gd name="connsiteX1" fmla="*/ 622998 w 2562330"/>
                <a:gd name="connsiteY1" fmla="*/ 205927 h 2316081"/>
                <a:gd name="connsiteX2" fmla="*/ 2562330 w 2562330"/>
                <a:gd name="connsiteY2" fmla="*/ 2316081 h 2316081"/>
                <a:gd name="connsiteX0" fmla="*/ 0 w 2562330"/>
                <a:gd name="connsiteY0" fmla="*/ 0 h 2240782"/>
                <a:gd name="connsiteX1" fmla="*/ 622998 w 2562330"/>
                <a:gd name="connsiteY1" fmla="*/ 130628 h 2240782"/>
                <a:gd name="connsiteX2" fmla="*/ 2562330 w 2562330"/>
                <a:gd name="connsiteY2" fmla="*/ 2240782 h 2240782"/>
                <a:gd name="connsiteX0" fmla="*/ 0 w 2602524"/>
                <a:gd name="connsiteY0" fmla="*/ 0 h 2311121"/>
                <a:gd name="connsiteX1" fmla="*/ 663192 w 2602524"/>
                <a:gd name="connsiteY1" fmla="*/ 200967 h 2311121"/>
                <a:gd name="connsiteX2" fmla="*/ 2602524 w 2602524"/>
                <a:gd name="connsiteY2" fmla="*/ 2311121 h 2311121"/>
                <a:gd name="connsiteX0" fmla="*/ 0 w 2602524"/>
                <a:gd name="connsiteY0" fmla="*/ 0 h 2311121"/>
                <a:gd name="connsiteX1" fmla="*/ 663192 w 2602524"/>
                <a:gd name="connsiteY1" fmla="*/ 200967 h 2311121"/>
                <a:gd name="connsiteX2" fmla="*/ 2602524 w 2602524"/>
                <a:gd name="connsiteY2" fmla="*/ 2311121 h 2311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02524" h="2311121">
                  <a:moveTo>
                    <a:pt x="0" y="0"/>
                  </a:moveTo>
                  <a:cubicBezTo>
                    <a:pt x="168311" y="35169"/>
                    <a:pt x="366765" y="70338"/>
                    <a:pt x="663192" y="200967"/>
                  </a:cubicBezTo>
                  <a:cubicBezTo>
                    <a:pt x="1029957" y="572756"/>
                    <a:pt x="1816240" y="1441938"/>
                    <a:pt x="2602524" y="2311121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1BACCB0E-4260-2408-57C4-C5D4D9CA0F18}"/>
                </a:ext>
              </a:extLst>
            </p:cNvPr>
            <p:cNvSpPr/>
            <p:nvPr/>
          </p:nvSpPr>
          <p:spPr>
            <a:xfrm>
              <a:off x="2673645" y="1714072"/>
              <a:ext cx="168200" cy="1682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F4C4CB4B-7B62-0360-E902-A3664B40CEE1}"/>
                </a:ext>
              </a:extLst>
            </p:cNvPr>
            <p:cNvSpPr/>
            <p:nvPr/>
          </p:nvSpPr>
          <p:spPr>
            <a:xfrm>
              <a:off x="5934350" y="4424139"/>
              <a:ext cx="168200" cy="1682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82AB6C0A-9941-6DD6-DDD8-F5B359D5B884}"/>
                </a:ext>
              </a:extLst>
            </p:cNvPr>
            <p:cNvSpPr txBox="1"/>
            <p:nvPr/>
          </p:nvSpPr>
          <p:spPr>
            <a:xfrm>
              <a:off x="1972916" y="1391873"/>
              <a:ext cx="15696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solidFill>
                    <a:srgbClr val="C00000"/>
                  </a:solidFill>
                </a:rPr>
                <a:t>京杭大运河北</a:t>
              </a: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08292F6F-6822-C7C3-5987-4D1F71E9B199}"/>
                </a:ext>
              </a:extLst>
            </p:cNvPr>
            <p:cNvSpPr txBox="1"/>
            <p:nvPr/>
          </p:nvSpPr>
          <p:spPr>
            <a:xfrm>
              <a:off x="5795986" y="4138908"/>
              <a:ext cx="15696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solidFill>
                    <a:srgbClr val="C00000"/>
                  </a:solidFill>
                </a:rPr>
                <a:t>京杭大运河南</a:t>
              </a:r>
            </a:p>
          </p:txBody>
        </p:sp>
        <p:sp>
          <p:nvSpPr>
            <p:cNvPr id="28" name="椭圆 27">
              <a:extLst>
                <a:ext uri="{FF2B5EF4-FFF2-40B4-BE49-F238E27FC236}">
                  <a16:creationId xmlns:a16="http://schemas.microsoft.com/office/drawing/2014/main" id="{6915E821-8407-31F6-D6C2-EEC363FAACE7}"/>
                </a:ext>
              </a:extLst>
            </p:cNvPr>
            <p:cNvSpPr/>
            <p:nvPr/>
          </p:nvSpPr>
          <p:spPr>
            <a:xfrm>
              <a:off x="3599716" y="4836481"/>
              <a:ext cx="168200" cy="1682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椭圆 28">
              <a:extLst>
                <a:ext uri="{FF2B5EF4-FFF2-40B4-BE49-F238E27FC236}">
                  <a16:creationId xmlns:a16="http://schemas.microsoft.com/office/drawing/2014/main" id="{43AA1E25-2C07-D449-72B3-1DE86721FB08}"/>
                </a:ext>
              </a:extLst>
            </p:cNvPr>
            <p:cNvSpPr/>
            <p:nvPr/>
          </p:nvSpPr>
          <p:spPr>
            <a:xfrm>
              <a:off x="5413486" y="3911930"/>
              <a:ext cx="168200" cy="1682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椭圆 29">
              <a:extLst>
                <a:ext uri="{FF2B5EF4-FFF2-40B4-BE49-F238E27FC236}">
                  <a16:creationId xmlns:a16="http://schemas.microsoft.com/office/drawing/2014/main" id="{C703BBBA-0137-5AFA-7D81-A7E15A6095C7}"/>
                </a:ext>
              </a:extLst>
            </p:cNvPr>
            <p:cNvSpPr/>
            <p:nvPr/>
          </p:nvSpPr>
          <p:spPr>
            <a:xfrm>
              <a:off x="3358047" y="1849844"/>
              <a:ext cx="168200" cy="1682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椭圆 32">
              <a:extLst>
                <a:ext uri="{FF2B5EF4-FFF2-40B4-BE49-F238E27FC236}">
                  <a16:creationId xmlns:a16="http://schemas.microsoft.com/office/drawing/2014/main" id="{2236411C-EB95-A523-8656-9C18487551F3}"/>
                </a:ext>
              </a:extLst>
            </p:cNvPr>
            <p:cNvSpPr/>
            <p:nvPr/>
          </p:nvSpPr>
          <p:spPr>
            <a:xfrm>
              <a:off x="3917889" y="5719453"/>
              <a:ext cx="168200" cy="1682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8" name="文本框 17">
            <a:extLst>
              <a:ext uri="{FF2B5EF4-FFF2-40B4-BE49-F238E27FC236}">
                <a16:creationId xmlns:a16="http://schemas.microsoft.com/office/drawing/2014/main" id="{EF54EF89-9589-E55A-CEE7-145E989408E3}"/>
              </a:ext>
            </a:extLst>
          </p:cNvPr>
          <p:cNvSpPr txBox="1"/>
          <p:nvPr/>
        </p:nvSpPr>
        <p:spPr>
          <a:xfrm>
            <a:off x="5069757" y="3329625"/>
            <a:ext cx="10262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17.5km2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7737891-9C9A-6B1E-14CF-DA4EA4824257}"/>
              </a:ext>
            </a:extLst>
          </p:cNvPr>
          <p:cNvSpPr txBox="1"/>
          <p:nvPr/>
        </p:nvSpPr>
        <p:spPr>
          <a:xfrm>
            <a:off x="4243885" y="5360052"/>
            <a:ext cx="103906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Lihe_S1</a:t>
            </a:r>
            <a:endParaRPr lang="en-US" altLang="zh-C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L=</a:t>
            </a:r>
            <a:r>
              <a:rPr lang="en-US" altLang="zh-CN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1.4km</a:t>
            </a:r>
            <a:endParaRPr lang="en-US" altLang="zh-C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B=</a:t>
            </a:r>
            <a:r>
              <a:rPr lang="en-US" altLang="zh-CN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20m</a:t>
            </a:r>
            <a:endParaRPr lang="en-US" altLang="zh-C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n=0.03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F0492A7-2B07-5C5C-F74C-DE36D24A7C23}"/>
              </a:ext>
            </a:extLst>
          </p:cNvPr>
          <p:cNvSpPr txBox="1"/>
          <p:nvPr/>
        </p:nvSpPr>
        <p:spPr>
          <a:xfrm>
            <a:off x="3635549" y="3590808"/>
            <a:ext cx="103906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Lihe_S2</a:t>
            </a:r>
            <a:endParaRPr lang="en-US" altLang="zh-C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L=</a:t>
            </a:r>
            <a:r>
              <a:rPr lang="en-US" altLang="zh-CN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6.4km</a:t>
            </a:r>
            <a:endParaRPr lang="en-US" altLang="zh-C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B=</a:t>
            </a:r>
            <a:r>
              <a:rPr lang="en-US" altLang="zh-CN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20m</a:t>
            </a:r>
            <a:endParaRPr lang="en-US" altLang="zh-C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n=0.03</a:t>
            </a:r>
          </a:p>
          <a:p>
            <a:endParaRPr lang="en-US" altLang="zh-C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18502E8-6185-329A-DFC0-D10390A8319B}"/>
              </a:ext>
            </a:extLst>
          </p:cNvPr>
          <p:cNvSpPr txBox="1"/>
          <p:nvPr/>
        </p:nvSpPr>
        <p:spPr>
          <a:xfrm>
            <a:off x="3956117" y="-462399"/>
            <a:ext cx="137730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Jinghang_S1</a:t>
            </a:r>
            <a:endParaRPr lang="en-US" altLang="zh-C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L=</a:t>
            </a:r>
            <a:r>
              <a:rPr lang="en-US" altLang="zh-CN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1.5km</a:t>
            </a:r>
            <a:endParaRPr lang="en-US" altLang="zh-C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B=</a:t>
            </a:r>
            <a:r>
              <a:rPr lang="en-US" altLang="zh-CN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105m</a:t>
            </a:r>
            <a:endParaRPr lang="en-US" altLang="zh-C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n=0.03</a:t>
            </a:r>
          </a:p>
          <a:p>
            <a:endParaRPr lang="en-US" altLang="zh-C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4928CA3E-287A-6E2D-ECE5-059B3CE418B0}"/>
              </a:ext>
            </a:extLst>
          </p:cNvPr>
          <p:cNvSpPr txBox="1"/>
          <p:nvPr/>
        </p:nvSpPr>
        <p:spPr>
          <a:xfrm>
            <a:off x="5525532" y="979208"/>
            <a:ext cx="137730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Jinghang_S2</a:t>
            </a:r>
            <a:endParaRPr lang="en-US" altLang="zh-C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L=</a:t>
            </a:r>
            <a:r>
              <a:rPr lang="en-US" altLang="zh-CN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6.1km</a:t>
            </a:r>
            <a:endParaRPr lang="en-US" altLang="zh-C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B=</a:t>
            </a:r>
            <a:r>
              <a:rPr lang="en-US" altLang="zh-CN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105m</a:t>
            </a:r>
            <a:endParaRPr lang="en-US" altLang="zh-C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n=0.02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270D4D5-13EC-A7E5-FE04-C9F6CBB99833}"/>
              </a:ext>
            </a:extLst>
          </p:cNvPr>
          <p:cNvSpPr txBox="1"/>
          <p:nvPr/>
        </p:nvSpPr>
        <p:spPr>
          <a:xfrm>
            <a:off x="7588938" y="2540044"/>
            <a:ext cx="137730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Jinghang_S3</a:t>
            </a:r>
            <a:endParaRPr lang="en-US" altLang="zh-C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L=</a:t>
            </a:r>
            <a:r>
              <a:rPr lang="en-US" altLang="zh-CN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1.5km</a:t>
            </a:r>
            <a:endParaRPr lang="en-US" altLang="zh-C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B=</a:t>
            </a:r>
            <a:r>
              <a:rPr lang="en-US" altLang="zh-CN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105m</a:t>
            </a:r>
            <a:endParaRPr lang="en-US" altLang="zh-C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n=0.02</a:t>
            </a:r>
          </a:p>
          <a:p>
            <a:endParaRPr lang="en-US" altLang="zh-C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1EE17B9-D20C-150B-20AE-4D04F60BFFCF}"/>
              </a:ext>
            </a:extLst>
          </p:cNvPr>
          <p:cNvSpPr txBox="1"/>
          <p:nvPr/>
        </p:nvSpPr>
        <p:spPr>
          <a:xfrm>
            <a:off x="5540776" y="3821497"/>
            <a:ext cx="108234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Daxigang</a:t>
            </a:r>
            <a:endParaRPr lang="en-US" altLang="zh-C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L=</a:t>
            </a:r>
            <a:r>
              <a:rPr lang="en-US" altLang="zh-CN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5.2km</a:t>
            </a:r>
            <a:endParaRPr lang="en-US" altLang="zh-C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B=</a:t>
            </a:r>
            <a:r>
              <a:rPr lang="en-US" altLang="zh-CN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30m</a:t>
            </a:r>
            <a:endParaRPr lang="en-US" altLang="zh-C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n=0.03</a:t>
            </a:r>
          </a:p>
          <a:p>
            <a:endParaRPr lang="en-US" altLang="zh-C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803AE8C-79D5-8BAA-85A9-E3F9DC312DAD}"/>
              </a:ext>
            </a:extLst>
          </p:cNvPr>
          <p:cNvSpPr txBox="1"/>
          <p:nvPr/>
        </p:nvSpPr>
        <p:spPr>
          <a:xfrm>
            <a:off x="5024605" y="5206775"/>
            <a:ext cx="5009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AE21F828-A6F7-D924-430C-0A51F91BBD92}"/>
              </a:ext>
            </a:extLst>
          </p:cNvPr>
          <p:cNvSpPr txBox="1"/>
          <p:nvPr/>
        </p:nvSpPr>
        <p:spPr>
          <a:xfrm>
            <a:off x="4254767" y="2857061"/>
            <a:ext cx="5009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AE73F1B0-C55E-020A-2DC0-27F2DCF1447E}"/>
              </a:ext>
            </a:extLst>
          </p:cNvPr>
          <p:cNvSpPr txBox="1"/>
          <p:nvPr/>
        </p:nvSpPr>
        <p:spPr>
          <a:xfrm>
            <a:off x="5879572" y="4925989"/>
            <a:ext cx="5009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D5659196-FCA9-55F9-059E-D4D58F6504A8}"/>
              </a:ext>
            </a:extLst>
          </p:cNvPr>
          <p:cNvSpPr txBox="1"/>
          <p:nvPr/>
        </p:nvSpPr>
        <p:spPr>
          <a:xfrm>
            <a:off x="7458377" y="3746513"/>
            <a:ext cx="5009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9F6F694B-DA7A-F1AD-E0A9-5D173E36F724}"/>
              </a:ext>
            </a:extLst>
          </p:cNvPr>
          <p:cNvSpPr txBox="1"/>
          <p:nvPr/>
        </p:nvSpPr>
        <p:spPr>
          <a:xfrm>
            <a:off x="6900709" y="2859738"/>
            <a:ext cx="5009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FD39DDA-F495-3524-98DF-B8EEFD15A5E0}"/>
              </a:ext>
            </a:extLst>
          </p:cNvPr>
          <p:cNvSpPr txBox="1"/>
          <p:nvPr/>
        </p:nvSpPr>
        <p:spPr>
          <a:xfrm>
            <a:off x="3797841" y="723305"/>
            <a:ext cx="5009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AF4F137C-7285-A303-EDF0-4691A3586EBA}"/>
              </a:ext>
            </a:extLst>
          </p:cNvPr>
          <p:cNvSpPr txBox="1"/>
          <p:nvPr/>
        </p:nvSpPr>
        <p:spPr>
          <a:xfrm>
            <a:off x="4530478" y="4654733"/>
            <a:ext cx="5009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FF0000"/>
                </a:solidFill>
                <a:highlight>
                  <a:srgbClr val="0000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2CA85E5D-7547-895C-EE36-41B6B17032D8}"/>
              </a:ext>
            </a:extLst>
          </p:cNvPr>
          <p:cNvSpPr txBox="1"/>
          <p:nvPr/>
        </p:nvSpPr>
        <p:spPr>
          <a:xfrm>
            <a:off x="5454015" y="5678737"/>
            <a:ext cx="5009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FF0000"/>
                </a:solidFill>
                <a:highlight>
                  <a:srgbClr val="0000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7DE9DB2C-6C50-C758-91D9-C3B66BFCEDDD}"/>
              </a:ext>
            </a:extLst>
          </p:cNvPr>
          <p:cNvSpPr txBox="1"/>
          <p:nvPr/>
        </p:nvSpPr>
        <p:spPr>
          <a:xfrm>
            <a:off x="7708840" y="4254623"/>
            <a:ext cx="5009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FF0000"/>
                </a:solidFill>
                <a:highlight>
                  <a:srgbClr val="0000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6B71FADB-D0E0-D84E-68CA-F0D12D6DEE29}"/>
              </a:ext>
            </a:extLst>
          </p:cNvPr>
          <p:cNvSpPr txBox="1"/>
          <p:nvPr/>
        </p:nvSpPr>
        <p:spPr>
          <a:xfrm>
            <a:off x="7318028" y="3155846"/>
            <a:ext cx="5009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FF0000"/>
                </a:solidFill>
                <a:highlight>
                  <a:srgbClr val="0000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768FFA5E-ED50-84DD-2C0B-628FFD055140}"/>
              </a:ext>
            </a:extLst>
          </p:cNvPr>
          <p:cNvSpPr txBox="1"/>
          <p:nvPr/>
        </p:nvSpPr>
        <p:spPr>
          <a:xfrm>
            <a:off x="4490178" y="1046768"/>
            <a:ext cx="5009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FF0000"/>
                </a:solidFill>
                <a:highlight>
                  <a:srgbClr val="0000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B494F4B0-0C72-55B6-2115-EE1D5587E39F}"/>
              </a:ext>
            </a:extLst>
          </p:cNvPr>
          <p:cNvSpPr txBox="1"/>
          <p:nvPr/>
        </p:nvSpPr>
        <p:spPr>
          <a:xfrm>
            <a:off x="3398977" y="812886"/>
            <a:ext cx="5009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FF0000"/>
                </a:solidFill>
                <a:highlight>
                  <a:srgbClr val="0000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3B98ACC7-0F85-A73A-8598-5AD62A5BC7D2}"/>
              </a:ext>
            </a:extLst>
          </p:cNvPr>
          <p:cNvSpPr txBox="1"/>
          <p:nvPr/>
        </p:nvSpPr>
        <p:spPr>
          <a:xfrm>
            <a:off x="5845536" y="5745078"/>
            <a:ext cx="22627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FF0000"/>
                </a:solidFill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Q=</a:t>
            </a:r>
            <a:r>
              <a:rPr lang="en-US" altLang="zh-CN" sz="2000" dirty="0" err="1">
                <a:solidFill>
                  <a:srgbClr val="FF0000"/>
                </a:solidFill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20m3</a:t>
            </a:r>
            <a:r>
              <a:rPr lang="en-US" altLang="zh-CN" sz="2000" dirty="0">
                <a:solidFill>
                  <a:srgbClr val="FF0000"/>
                </a:solidFill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/s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736F0566-DF63-BE17-D80A-CD97D14DAA54}"/>
              </a:ext>
            </a:extLst>
          </p:cNvPr>
          <p:cNvSpPr txBox="1"/>
          <p:nvPr/>
        </p:nvSpPr>
        <p:spPr>
          <a:xfrm>
            <a:off x="2472116" y="632929"/>
            <a:ext cx="22627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FF0000"/>
                </a:solidFill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Z=</a:t>
            </a:r>
            <a:r>
              <a:rPr lang="en-US" altLang="zh-CN" sz="2000" dirty="0" err="1">
                <a:solidFill>
                  <a:srgbClr val="FF0000"/>
                </a:solidFill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2.5m</a:t>
            </a:r>
            <a:endParaRPr lang="en-US" altLang="zh-CN" sz="2000" dirty="0">
              <a:solidFill>
                <a:srgbClr val="FF0000"/>
              </a:solidFill>
              <a:highlight>
                <a:srgbClr val="00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CECEA6A3-952D-05C2-1785-BF5AA327FEDB}"/>
              </a:ext>
            </a:extLst>
          </p:cNvPr>
          <p:cNvSpPr txBox="1"/>
          <p:nvPr/>
        </p:nvSpPr>
        <p:spPr>
          <a:xfrm>
            <a:off x="8369737" y="4148983"/>
            <a:ext cx="22627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FF0000"/>
                </a:solidFill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Z=</a:t>
            </a:r>
            <a:r>
              <a:rPr lang="en-US" altLang="zh-CN" sz="2000" dirty="0" err="1">
                <a:solidFill>
                  <a:srgbClr val="FF0000"/>
                </a:solidFill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2.5m</a:t>
            </a:r>
            <a:endParaRPr lang="en-US" altLang="zh-CN" sz="2000" dirty="0">
              <a:solidFill>
                <a:srgbClr val="FF0000"/>
              </a:solidFill>
              <a:highlight>
                <a:srgbClr val="00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79826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DCA351-850E-239E-625E-C154DC26D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AD314437-3F4C-0E78-CEA4-4EB3047207FF}"/>
              </a:ext>
            </a:extLst>
          </p:cNvPr>
          <p:cNvSpPr txBox="1"/>
          <p:nvPr/>
        </p:nvSpPr>
        <p:spPr>
          <a:xfrm>
            <a:off x="296789" y="291057"/>
            <a:ext cx="11895211" cy="6275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孪生水网模型的基本任务与要求：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）从百度、谷歌地球、天地图中提取基本的水网信息，（根据研究目标自行判别水网连接关系、以及需要孪生的水网），并获得河道宽度（在河底高程统一、矩形条件下，得到宽度即有断面）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得分点：区域水网概化的合理性、水网孪生的复杂度、断头河的处理、河道宽度的概化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）结合地图提取并孪生枢纽工程信息（闸、站），根据网上相关资料（或老师提供）确定枢纽规模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得分点：枢纽概化的方式，资料缺失工程的概化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）利用水动力模型实现水网的模拟工作，主要任务包括：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a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）根据研究需求自行确定计算点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得分点：计算点选取的依据与合理性，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b) 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依托模型计算并输出但不限于水位、流量、断面平均流速、水面线等基本水动力要素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得分点：准确从模型中提取输出和简单后处理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c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）计算指定工况，输出重要站点的计算结果；通过调整模型参数，使得计算结果与</a:t>
            </a:r>
            <a:r>
              <a:rPr lang="zh-CN" altLang="en-US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提供的站点资料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吻合良好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得分点：运行模型、选取合适模型评价指标、能调整河宽</a:t>
            </a:r>
            <a:r>
              <a:rPr lang="zh-CN" altLang="en-US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、糙率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、时间步长等参数提升模型质量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d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）根据研究任务，设计至少一种工况，完成工况的复演与分析。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得分点：构思水利情景故事（防洪、调水等），并用模型复演</a:t>
            </a:r>
            <a:endParaRPr lang="en-US" altLang="zh-CN" dirty="0"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185711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2277</TotalTime>
  <Words>476</Words>
  <Application>Microsoft Office PowerPoint</Application>
  <PresentationFormat>宽屏</PresentationFormat>
  <Paragraphs>64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8" baseType="lpstr">
      <vt:lpstr>等线</vt:lpstr>
      <vt:lpstr>等线 Light</vt:lpstr>
      <vt:lpstr>微软雅黑</vt:lpstr>
      <vt:lpstr>Arial</vt:lpstr>
      <vt:lpstr>Times New Roman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Jin</dc:creator>
  <cp:lastModifiedBy>许栋</cp:lastModifiedBy>
  <cp:revision>9</cp:revision>
  <dcterms:created xsi:type="dcterms:W3CDTF">2025-06-18T04:14:41Z</dcterms:created>
  <dcterms:modified xsi:type="dcterms:W3CDTF">2025-06-23T08:31:33Z</dcterms:modified>
</cp:coreProperties>
</file>